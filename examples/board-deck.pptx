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customXml/ao-agentsProps.xml" ContentType="application/vnd.openxmlformats-officedocument.customXmlProperties+xml"/>
  <Override PartName="/customXml/ao-designProps.xml" ContentType="application/vnd.openxmlformats-officedocument.customXmlProperties+xml"/>
  <Override PartName="/customXml/ao-intentProps.xml" ContentType="application/vnd.openxmlformats-officedocument.customXmlProperties+xml"/>
  <Override PartName="/customXml/ao-sourcesProps.xml" ContentType="application/vnd.openxmlformats-officedocument.customXml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Relationship Id="rIdAoagents" Type="http://schemas.openxmlformats.org/officeDocument/2006/relationships/customXml" Target="../customXml/ao-agents.xml"/><Relationship Id="rIdAodesign" Type="http://schemas.openxmlformats.org/officeDocument/2006/relationships/customXml" Target="../customXml/ao-design.xml"/><Relationship Id="rIdAointent" Type="http://schemas.openxmlformats.org/officeDocument/2006/relationships/customXml" Target="../customXml/ao-intent.xml"/><Relationship Id="rIdAosources" Type="http://schemas.openxmlformats.org/officeDocument/2006/relationships/customXml" Target="../customXml/ao-sourc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0000"/>
          </a:xfrm>
          <a:prstGeom prst="rect">
            <a:avLst/>
          </a:prstGeom>
        </p:spPr>
        <p:txBody>
          <a:bodyPr anchor="ctr"/>
          <a:lstStyle/>
          <a:p>
            <a:r>
              <a:rPr lang="en-GB"/>
              <a:t>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 b="1">
          <a:solidFill>
            <a:schemeClr val="tx1"/>
          </a:solidFill>
          <a:latin typeface="+mj-lt"/>
        </a:defRPr>
      </a:lvl1pPr>
    </p:titleStyle>
    <p:bodyStyle>
      <a:lvl1pPr>
        <a:defRPr sz="20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FY Board Update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38200" y="30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/>
              <a:t>Synthetic example data (EUR M). Not real financials.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Revenue by quarter</a:t>
            </a:r>
          </a:p>
        </p:txBody>
      </p:sp>
      <p:sp>
        <p:nvSpPr>
          <p:cNvPr id="3" name="Q1 KPI"/>
          <p:cNvSpPr txBox="1"/>
          <p:nvPr/>
        </p:nvSpPr>
        <p:spPr>
          <a:xfrm>
            <a:off x="838200" y="170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/>
              <a:t>Q1 revenue EUR 17.2M</a:t>
            </a:r>
          </a:p>
        </p:txBody>
      </p:sp>
      <p:sp>
        <p:nvSpPr>
          <p:cNvPr id="7" name="Q1 bar"/>
          <p:cNvSpPr/>
          <p:nvPr/>
        </p:nvSpPr>
        <p:spPr>
          <a:xfrm>
            <a:off x="5900000" y="1760000"/>
            <a:ext cx="4037558" cy="380000"/>
          </a:xfrm>
          <a:prstGeom prst="rect">
            <a:avLst/>
          </a:prstGeom>
          <a:solidFill>
            <a:srgbClr val="2457F5"/>
          </a:solidFill>
          <a:ln>
            <a:noFill/>
          </a:ln>
        </p:spPr>
      </p:sp>
      <p:sp>
        <p:nvSpPr>
          <p:cNvPr id="4" name="Q2 KPI"/>
          <p:cNvSpPr txBox="1"/>
          <p:nvPr/>
        </p:nvSpPr>
        <p:spPr>
          <a:xfrm>
            <a:off x="838200" y="235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/>
              <a:t>Q2 revenue EUR 17.9M</a:t>
            </a:r>
          </a:p>
        </p:txBody>
      </p:sp>
      <p:sp>
        <p:nvSpPr>
          <p:cNvPr id="8" name="Q2 bar"/>
          <p:cNvSpPr/>
          <p:nvPr/>
        </p:nvSpPr>
        <p:spPr>
          <a:xfrm>
            <a:off x="5900000" y="2410000"/>
            <a:ext cx="4201877" cy="380000"/>
          </a:xfrm>
          <a:prstGeom prst="rect">
            <a:avLst/>
          </a:prstGeom>
          <a:solidFill>
            <a:srgbClr val="2457F5"/>
          </a:solidFill>
          <a:ln>
            <a:noFill/>
          </a:ln>
        </p:spPr>
      </p:sp>
      <p:sp>
        <p:nvSpPr>
          <p:cNvPr id="5" name="Q3 KPI"/>
          <p:cNvSpPr txBox="1"/>
          <p:nvPr/>
        </p:nvSpPr>
        <p:spPr>
          <a:xfrm>
            <a:off x="838200" y="300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/>
              <a:t>Q3 revenue EUR 18.6M</a:t>
            </a:r>
          </a:p>
        </p:txBody>
      </p:sp>
      <p:sp>
        <p:nvSpPr>
          <p:cNvPr id="9" name="Q3 bar"/>
          <p:cNvSpPr/>
          <p:nvPr/>
        </p:nvSpPr>
        <p:spPr>
          <a:xfrm>
            <a:off x="5900000" y="3060000"/>
            <a:ext cx="4366197" cy="380000"/>
          </a:xfrm>
          <a:prstGeom prst="rect">
            <a:avLst/>
          </a:prstGeom>
          <a:solidFill>
            <a:srgbClr val="2457F5"/>
          </a:solidFill>
          <a:ln>
            <a:noFill/>
          </a:ln>
        </p:spPr>
      </p:sp>
      <p:sp>
        <p:nvSpPr>
          <p:cNvPr id="6" name="Q4 KPI"/>
          <p:cNvSpPr txBox="1"/>
          <p:nvPr/>
        </p:nvSpPr>
        <p:spPr>
          <a:xfrm>
            <a:off x="838200" y="365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/>
              <a:t>Q4 forecast EUR 21.3M</a:t>
            </a:r>
          </a:p>
        </p:txBody>
      </p:sp>
      <p:sp>
        <p:nvSpPr>
          <p:cNvPr id="10" name="Q4 bar"/>
          <p:cNvSpPr/>
          <p:nvPr/>
        </p:nvSpPr>
        <p:spPr>
          <a:xfrm>
            <a:off x="5900000" y="3710000"/>
            <a:ext cx="5000000" cy="380000"/>
          </a:xfrm>
          <a:prstGeom prst="rect">
            <a:avLst/>
          </a:prstGeom>
          <a:solidFill>
            <a:srgbClr val="8A93A0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Full-year outlook</a:t>
            </a:r>
          </a:p>
        </p:txBody>
      </p:sp>
      <p:sp>
        <p:nvSpPr>
          <p:cNvPr id="3" name="Annual KPI"/>
          <p:cNvSpPr txBox="1"/>
          <p:nvPr/>
        </p:nvSpPr>
        <p:spPr>
          <a:xfrm>
            <a:off x="838200" y="19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/>
              <a:t>FY revenue EUR 75.0M</a:t>
            </a:r>
          </a:p>
        </p:txBody>
      </p:sp>
      <p:sp>
        <p:nvSpPr>
          <p:cNvPr id="4" name="Basis"/>
          <p:cNvSpPr txBox="1"/>
          <p:nvPr/>
        </p:nvSpPr>
        <p:spPr>
          <a:xfrm>
            <a:off x="838200" y="2900000"/>
            <a:ext cx="10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Q1 to Q3 actual plus Q4 forecast of EUR 21.3M.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Risks and asks</a:t>
            </a:r>
          </a:p>
        </p:txBody>
      </p:sp>
      <p:sp>
        <p:nvSpPr>
          <p:cNvPr id="3" name="Risks"/>
          <p:cNvSpPr txBox="1"/>
          <p:nvPr/>
        </p:nvSpPr>
        <p:spPr>
          <a:xfrm>
            <a:off x="838200" y="1800000"/>
            <a:ext cx="10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/>
              <a:t>Q4 forecast depends on two renewals; board asked to confirm the hiring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ite">
  <a:themeElements>
    <a:clrScheme name="Graphite">
      <a:dk1>
        <a:srgbClr val="0B0D10"/>
      </a:dk1>
      <a:lt1>
        <a:srgbClr val="FFFFFF"/>
      </a:lt1>
      <a:dk2>
        <a:srgbClr val="1C2026"/>
      </a:dk2>
      <a:lt2>
        <a:srgbClr val="E6E8EB"/>
      </a:lt2>
      <a:accent1>
        <a:srgbClr val="2457F5"/>
      </a:accent1>
      <a:accent2>
        <a:srgbClr val="5B6573"/>
      </a:accent2>
      <a:accent3>
        <a:srgbClr val="8A93A0"/>
      </a:accent3>
      <a:accent4>
        <a:srgbClr val="3D7BFF"/>
      </a:accent4>
      <a:accent5>
        <a:srgbClr val="1A3FB8"/>
      </a:accent5>
      <a:accent6>
        <a:srgbClr val="B8BEC7"/>
      </a:accent6>
      <a:hlink>
        <a:srgbClr val="2457F5"/>
      </a:hlink>
      <a:folHlink>
        <a:srgbClr val="5B6573"/>
      </a:folHlink>
    </a:clrScheme>
    <a:fontScheme name="Graphit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Graphit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ao-agents.xml.rels><?xml version="1.0" encoding="UTF-8" standalone="yes"?>
<Relationships xmlns="http://schemas.openxmlformats.org/package/2006/relationships"><Relationship Id="rId1" Type="http://schemas.openxmlformats.org/officeDocument/2006/relationships/customXmlProps" Target="ao-agentsProps.xml"/></Relationships>

</file>

<file path=customXml/_rels/ao-design.xml.rels><?xml version="1.0" encoding="UTF-8" standalone="yes"?>
<Relationships xmlns="http://schemas.openxmlformats.org/package/2006/relationships"><Relationship Id="rId1" Type="http://schemas.openxmlformats.org/officeDocument/2006/relationships/customXmlProps" Target="ao-designProps.xml"/></Relationships>

</file>

<file path=customXml/_rels/ao-intent.xml.rels><?xml version="1.0" encoding="UTF-8" standalone="yes"?>
<Relationships xmlns="http://schemas.openxmlformats.org/package/2006/relationships"><Relationship Id="rId1" Type="http://schemas.openxmlformats.org/officeDocument/2006/relationships/customXmlProps" Target="ao-intentProps.xml"/></Relationships>

</file>

<file path=customXml/_rels/ao-sources.xml.rels><?xml version="1.0" encoding="UTF-8" standalone="yes"?>
<Relationships xmlns="http://schemas.openxmlformats.org/package/2006/relationships"><Relationship Id="rId1" Type="http://schemas.openxmlformats.org/officeDocument/2006/relationships/customXmlProps" Target="ao-sourcesProps.xml"/></Relationships>

</file>

<file path=customXml/ao-agents.xml><?xml version="1.0" encoding="utf-8"?>
<ao:knowledge xmlns:ao="urn:agentic-office:ooxml:v0.1" kind="agents" schemaVersion="0.1">
  <ao:summary>Editing policy for this deck</ao:summary>
  <ao:section id="figures" format="text/markdown"><![CDATA[Every revenue figure on slides 2 and 3 is quoted from financial-model.xlsx and has a sources record. Change a figure only together with its source, and re-verify the record afterwards.]]></ao:section>
  <ao:section id="style" format="text/markdown"><![CDATA[Keep the graphite and cobalt look: one accent colour, thin rules, no decorative imagery.]]></ao:section>
</ao:knowledge>
</file>

<file path=customXml/ao-agentsProps.xml><?xml version="1.0" encoding="utf-8"?>
<ds:datastoreItem xmlns:ds="http://schemas.openxmlformats.org/officeDocument/2006/customXml" ds:itemID="{4EE0A51B-54EA-46A6-B96C-2F6A52B231D6}">
  <ds:schemaRefs>
    <ds:schemaRef ds:uri="urn:agentic-office:ooxml:v0.1"/>
  </ds:schemaRefs>
</ds:datastoreItem>
</file>

<file path=customXml/ao-design.xml><?xml version="1.0" encoding="utf-8"?>
<ao:knowledge xmlns:ao="urn:agentic-office:ooxml:v0.1" kind="design" schemaVersion="0.1">
  <ao:summary>Graphite ground, electric cobalt accent, editorial type</ao:summary>
  <ao:section id="palette" format="text/markdown"><![CDATA[Ground near-black or white; text graphite; one accent, cobalt 2457F5; forecast bars in grey 8A93A0.]]></ao:section>
  <ao:section id="layout" format="text/markdown"><![CDATA[Title top-left; figures left-aligned in a single column with proportional bars to the right.]]></ao:section>
</ao:knowledge>
</file>

<file path=customXml/ao-designProps.xml><?xml version="1.0" encoding="utf-8"?>
<ds:datastoreItem xmlns:ds="http://schemas.openxmlformats.org/officeDocument/2006/customXml" ds:itemID="{31E5ACE2-CC59-08BE-251F-F91DA4EC3CFF}">
  <ds:schemaRefs>
    <ds:schemaRef ds:uri="urn:agentic-office:ooxml:v0.1"/>
  </ds:schemaRefs>
</ds:datastoreItem>
</file>

<file path=customXml/ao-intent.xml><?xml version="1.0" encoding="utf-8"?>
<ao:knowledge xmlns:ao="urn:agentic-office:ooxml:v0.1" kind="intent" schemaVersion="0.1">
  <ao:summary>Quarterly board update on revenue</ao:summary>
  <ao:section id="purpose" format="text/markdown"><![CDATA[Show that FY revenue lands at EUR 75.0M and what the Q4 forecast depends on.]]></ao:section>
  <ao:section id="audience" format="text/markdown"><![CDATA[Board members who have read last quarter's deck; they want numbers and the ask, not background.]]></ao:section>
  <ao:section id="slide-2" format="text/markdown"><![CDATA[Revenue by quarter: Q1 to Q3 actual, Q4 forecast, bars scaled to value.]]></ao:section>
</ao:knowledge>
</file>

<file path=customXml/ao-intentProps.xml><?xml version="1.0" encoding="utf-8"?>
<ds:datastoreItem xmlns:ds="http://schemas.openxmlformats.org/officeDocument/2006/customXml" ds:itemID="{E7AC6DCC-6D08-37C4-730B-231AD57275A6}">
  <ds:schemaRefs>
    <ds:schemaRef ds:uri="urn:agentic-office:ooxml:v0.1"/>
  </ds:schemaRefs>
</ds:datastoreItem>
</file>

<file path=customXml/ao-sources.xml><?xml version="1.0" encoding="utf-8"?>
<ao:sources xmlns:ao="urn:agentic-office:ooxml:v0.1" schemaVersion="0.1">
  <ao:source id="q3-kpi" status="verified" sourceKind="spreadsheet" checkedAt="2026-10-29">
    <ao:resource uri="financial-model.xlsx"/>
    <ao:location>Summary!B1</ao:location>
    <ao:claimLocator part="/ppt/slides/slide2.xml" objectLocalId="5" claimHash="blake3:423a069728956684d5d81ece07a47efd371d715caea564aec5823b0507147af2"/>
    <ao:externalClaim file="financial-model.xlsx" sheet="Summary" cell="B1" claimHash="blake3:fb2b97d104a65d9876954e6eae7a994c2bbee3ead4c0716ce850009b28fc22df"/>
    <ao:sourceHash algorithm="blake3-of-cell-value">blake3:fb2b97d104a65d9876954e6eae7a994c2bbee3ead4c0716ce850009b28fc22df</ao:sourceHash>
  </ao:source>
  <ao:source id="annual" status="verified" sourceKind="spreadsheet" checkedAt="2026-10-29">
    <ao:resource uri="financial-model.xlsx"/>
    <ao:location>Summary!B2</ao:location>
    <ao:claimLocator part="/ppt/slides/slide3.xml" objectLocalId="3" claimHash="blake3:9c47440205fb10bf1620735393619f1afbb6b0f7ad0ccdc00cbdaa9664f8930e"/>
    <ao:sourceHash algorithm="blake3-of-cell-value">blake3:355804c0b52a8bd93192ecf070deb9bf56ada90a6fef9e9ef465f73294ae6057</ao:sourceHash>
  </ao:source>
  <ao:source id="q4-forecast" status="manual" sourceKind="spreadsheet" checkedAt="2026-10-29">
    <ao:resource uri="financial-model.xlsx"/>
    <ao:location>Quarterly!B5</ao:location>
    <ao:claimLocator part="/ppt/slides/slide2.xml" objectLocalId="6"/>
  </ao:source>
</ao:sources>
</file>

<file path=customXml/ao-sourcesProps.xml><?xml version="1.0" encoding="utf-8"?>
<ds:datastoreItem xmlns:ds="http://schemas.openxmlformats.org/officeDocument/2006/customXml" ds:itemID="{4AB1D85D-6830-8B50-A860-3D0A1CDA47FA}">
  <ds:schemaRefs>
    <ds:schemaRef ds:uri="urn:agentic-office:ooxml:v0.1"/>
  </ds:schemaRefs>
</ds:datastoreItem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FY Board Update (synthetic)</dc:title>
  <dc:creator>Agentic OOXML example generator</dc:creator>
  <dc:description>Synthetic example data. Not real financials.</dc:description>
  <dcterms:created xsi:type="dcterms:W3CDTF">2026-10-29T00:00:00Z</dcterms:created>
</cp:coreProperties>
</file>